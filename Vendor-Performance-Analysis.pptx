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Heebo Bold" panose="020B0604020202020204" charset="-79"/>
      <p:regular r:id="rId11"/>
    </p:embeddedFont>
    <p:embeddedFont>
      <p:font typeface="Heebo Light" pitchFamily="2" charset="-79"/>
      <p:regular r:id="rId12"/>
    </p:embeddedFont>
    <p:embeddedFont>
      <p:font typeface="Montserrat" panose="00000500000000000000" pitchFamily="2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2179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832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Vendor Performance Analysis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54832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 in-depth validation of vendor performance, supply chain liquidity, and pricing mechanisms — spanning </a:t>
            </a: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10,692 operational rows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across </a:t>
            </a: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18 key metrics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to identify margin optimization, freight containment, and supplier dependency risks.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27399"/>
            <a:ext cx="2628230" cy="26282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74988" y="2840162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Unified Schema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474988" y="3203377"/>
            <a:ext cx="51775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Four legacy tables — </a:t>
            </a: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Sales, Purchases, Purchase Prices,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and </a:t>
            </a: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Vendor Invoices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were consolidated into a single robust grid.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1138"/>
            <a:ext cx="890588" cy="208583"/>
          </a:xfrm>
          <a:prstGeom prst="roundRect">
            <a:avLst>
              <a:gd name="adj" fmla="val 22123"/>
            </a:avLst>
          </a:prstGeom>
          <a:solidFill>
            <a:srgbClr val="1E0C41"/>
          </a:solidFill>
          <a:ln/>
        </p:spPr>
      </p:sp>
      <p:sp>
        <p:nvSpPr>
          <p:cNvPr id="3" name="Text 1"/>
          <p:cNvSpPr/>
          <p:nvPr/>
        </p:nvSpPr>
        <p:spPr>
          <a:xfrm>
            <a:off x="578495" y="452289"/>
            <a:ext cx="1183035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DATA QUALITY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672926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Observations &amp; Operational Anomalies</a:t>
            </a:r>
            <a:endParaRPr lang="en-US" sz="2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01576"/>
            <a:ext cx="4009355" cy="16488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18383" y="1404565"/>
            <a:ext cx="16475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52463" y="1850827"/>
            <a:ext cx="369666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Negative Gross Profit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2463" y="2145134"/>
            <a:ext cx="3696667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Minimum of </a:t>
            </a:r>
            <a:r>
              <a:rPr lang="en-US" sz="10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–$52,002.78</a:t>
            </a: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exposes mispriced stock or aggressive markdowns. ProfitMargin floor of –23,730% reflects overhead accrual with zero sales.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8452" y="1301576"/>
            <a:ext cx="4009430" cy="164886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60790" y="1404565"/>
            <a:ext cx="16475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794796" y="1850827"/>
            <a:ext cx="369674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Price Outliers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794796" y="2145134"/>
            <a:ext cx="3696742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Max PurchasePrice ($5,681.81) and ActualPrice ($7,499.99) vastly exceed means ($24.39 &amp; $35.64) — a mix of commodities and elite luxury SKUs.</a:t>
            </a:r>
            <a:endParaRPr lang="en-US" sz="10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083421"/>
            <a:ext cx="4009355" cy="164886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418383" y="3186410"/>
            <a:ext cx="16475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652463" y="3632671"/>
            <a:ext cx="369666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Freight Variance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52463" y="3926979"/>
            <a:ext cx="3696667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FreightCost spans $0.09 to </a:t>
            </a:r>
            <a:r>
              <a:rPr lang="en-US" sz="10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$257,032.07</a:t>
            </a: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highlighting unoptimized pipelines, emergency surcharges, or erratic vendor distribution.</a:t>
            </a: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8452" y="3083421"/>
            <a:ext cx="4009430" cy="164886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60790" y="3186410"/>
            <a:ext cx="16475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4794796" y="3632671"/>
            <a:ext cx="369674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Stock Velocity Paradox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4794796" y="3926979"/>
            <a:ext cx="3696742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StockTurnover ranges 0–274.5 with weak negative correlation to GrossProfit (–0.038). Faster velocity does </a:t>
            </a:r>
            <a:r>
              <a:rPr lang="en-US" sz="10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not</a:t>
            </a: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guarantee higher profitability.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31136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103" y="94655"/>
            <a:ext cx="3302794" cy="495419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19" y="407417"/>
            <a:ext cx="1219870" cy="191839"/>
          </a:xfrm>
          <a:prstGeom prst="roundRect">
            <a:avLst>
              <a:gd name="adj" fmla="val 22114"/>
            </a:avLst>
          </a:prstGeom>
          <a:solidFill>
            <a:srgbClr val="1E0C41"/>
          </a:solidFill>
          <a:ln/>
        </p:spPr>
      </p:sp>
      <p:sp>
        <p:nvSpPr>
          <p:cNvPr id="5" name="Text 2"/>
          <p:cNvSpPr/>
          <p:nvPr/>
        </p:nvSpPr>
        <p:spPr>
          <a:xfrm>
            <a:off x="571872" y="445294"/>
            <a:ext cx="15255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STRATEGIC INSIGHT #1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496119" y="644203"/>
            <a:ext cx="4722763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High-Margin, Low-Velocity Brands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496119" y="1601912"/>
            <a:ext cx="4722763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Analysis isolated brands with </a:t>
            </a:r>
            <a:r>
              <a:rPr lang="en-US" sz="9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premium profit margins but weak sales volumes</a:t>
            </a: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ideal candidates for promotional positioning or strategic price adjustments to drive purchase frequency </a:t>
            </a:r>
            <a:r>
              <a:rPr lang="en-US" sz="9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without</a:t>
            </a: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damaging profitability.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301255"/>
            <a:ext cx="4722763" cy="7366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3762" y="2441749"/>
            <a:ext cx="43846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Promotional Positioning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93762" y="2706439"/>
            <a:ext cx="43846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Creative marketing campaigns to increase visibility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150319"/>
            <a:ext cx="4722763" cy="7366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3762" y="3290813"/>
            <a:ext cx="43846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Pricing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93762" y="3555504"/>
            <a:ext cx="43846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Adjust price points to stimulate purchase frequency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999384"/>
            <a:ext cx="4722763" cy="7366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3762" y="4139878"/>
            <a:ext cx="43846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Volume Bundling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93762" y="4404568"/>
            <a:ext cx="438462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Bundle high-margin SKUs to move capital while protecting earnings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43744"/>
            <a:ext cx="1694631" cy="215354"/>
          </a:xfrm>
          <a:prstGeom prst="roundRect">
            <a:avLst>
              <a:gd name="adj" fmla="val 22119"/>
            </a:avLst>
          </a:prstGeom>
          <a:solidFill>
            <a:srgbClr val="1E0C41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86234"/>
            <a:ext cx="198172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STRATEGIC INSIGHTS #2 &amp; #3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1580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Performers &amp; Supplier Dependency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61314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Highest Sales Performance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1976363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concentrated segment of major vendors commands maximum share of TotalSalesDollars — stable, brand-loyal product lines guaranteeing consistent top-line revenue.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6119" y="2851696"/>
            <a:ext cx="3902943" cy="19050"/>
          </a:xfrm>
          <a:prstGeom prst="roundRect">
            <a:avLst>
              <a:gd name="adj" fmla="val 60000"/>
            </a:avLst>
          </a:prstGeom>
          <a:solidFill>
            <a:srgbClr val="DCD7E5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96119" y="3065636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Procurement Concentration Risk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119" y="3428851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Top vendors handle a substantial percentage of total procurement spending. High dependency warrants </a:t>
            </a: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proactive SLAs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and supplier diversification to shield against localized bottlenecks.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701" y="1630859"/>
            <a:ext cx="3902943" cy="28093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11758"/>
            <a:ext cx="1694631" cy="215354"/>
          </a:xfrm>
          <a:prstGeom prst="roundRect">
            <a:avLst>
              <a:gd name="adj" fmla="val 22119"/>
            </a:avLst>
          </a:prstGeom>
          <a:solidFill>
            <a:srgbClr val="1E0C41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654248"/>
            <a:ext cx="198172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STRATEGIC INSIGHTS #4 &amp; #5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8381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Bulk Pricing &amp; Inventory Turnover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21421"/>
            <a:ext cx="2628230" cy="26282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988" y="1681163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Bulk Purchase Paradox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474988" y="2044378"/>
            <a:ext cx="517758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PurchasePrice has </a:t>
            </a: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near-zero correlation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with TotalSalesDollars (–0.012) and GrossProfit (–0.016). Price fluctuations do not inherently dictate revenue or profit scale. Volumetric mapping reveals optimal discount tiers balancing bulk savings against holding costs.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74988" y="3146524"/>
            <a:ext cx="5177582" cy="19050"/>
          </a:xfrm>
          <a:prstGeom prst="roundRect">
            <a:avLst>
              <a:gd name="adj" fmla="val 60000"/>
            </a:avLst>
          </a:prstGeom>
          <a:solidFill>
            <a:srgbClr val="DCD7E5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474988" y="3360465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Dead Stock Identification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474988" y="3723680"/>
            <a:ext cx="517758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Suppliers with StockTurnover approaching </a:t>
            </a: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0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signal stagnant lines incurring holding costs. Cross-referencing TotalPurchaseQuantity vs. TotalSalesQuantity isolates vendors holding </a:t>
            </a: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$2.71M in locked capital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5528"/>
            <a:ext cx="1345629" cy="195114"/>
          </a:xfrm>
          <a:prstGeom prst="roundRect">
            <a:avLst>
              <a:gd name="adj" fmla="val 22125"/>
            </a:avLst>
          </a:prstGeom>
          <a:solidFill>
            <a:srgbClr val="1E0C41"/>
          </a:solidFill>
          <a:ln/>
        </p:spPr>
      </p:sp>
      <p:sp>
        <p:nvSpPr>
          <p:cNvPr id="3" name="Text 1"/>
          <p:cNvSpPr/>
          <p:nvPr/>
        </p:nvSpPr>
        <p:spPr>
          <a:xfrm>
            <a:off x="573137" y="454000"/>
            <a:ext cx="1648792" cy="118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STATISTICAL VALIDATION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57151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Hypothesis Testing: Vendor Margin Differences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96119" y="1105123"/>
            <a:ext cx="815176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Framework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96119" y="1480393"/>
            <a:ext cx="86089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Independent two-sample t-test to determine if margin variations between high and low-performing vendors are </a:t>
            </a:r>
            <a:r>
              <a:rPr lang="en-US" sz="10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structural or random noise</a:t>
            </a: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6119" y="1850901"/>
            <a:ext cx="815176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96119" y="2226171"/>
            <a:ext cx="8151763" cy="1054224"/>
          </a:xfrm>
          <a:prstGeom prst="roundRect">
            <a:avLst>
              <a:gd name="adj" fmla="val 5118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6119" y="2578373"/>
            <a:ext cx="8151763" cy="803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96119" y="2928193"/>
            <a:ext cx="8151763" cy="803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215283" y="2226171"/>
            <a:ext cx="8030" cy="105422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928792" y="2226171"/>
            <a:ext cx="8030" cy="105422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30213" y="2305496"/>
            <a:ext cx="291145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Metric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46103" y="2305496"/>
            <a:ext cx="290906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Value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59612" y="2305496"/>
            <a:ext cx="291145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Decision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213" y="2655317"/>
            <a:ext cx="291145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T-Statistic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46103" y="2655317"/>
            <a:ext cx="290906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–10.7137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59612" y="2655317"/>
            <a:ext cx="291145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Highly Significant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213" y="3005138"/>
            <a:ext cx="291145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P-Value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46103" y="3005138"/>
            <a:ext cx="290906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0.0000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59612" y="3005138"/>
            <a:ext cx="291145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Reject H₀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6119" y="3411364"/>
            <a:ext cx="8151763" cy="481236"/>
          </a:xfrm>
          <a:prstGeom prst="roundRect">
            <a:avLst>
              <a:gd name="adj" fmla="val 11213"/>
            </a:avLst>
          </a:prstGeom>
          <a:solidFill>
            <a:srgbClr val="183A13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57" y="3592785"/>
            <a:ext cx="160586" cy="128439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13581" y="3559820"/>
            <a:ext cx="806306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 &lt; 0.05 confirms superior outcomes are tied to </a:t>
            </a:r>
            <a:r>
              <a:rPr lang="en-US" sz="10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systematic vendor-level traits</a:t>
            </a:r>
            <a:r>
              <a:rPr lang="en-US" sz="10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not accidental variance.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96119" y="4023568"/>
            <a:ext cx="8151763" cy="704404"/>
          </a:xfrm>
          <a:prstGeom prst="roundRect">
            <a:avLst>
              <a:gd name="adj" fmla="val 7660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96119" y="4375770"/>
            <a:ext cx="8151763" cy="803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629394" y="4102894"/>
            <a:ext cx="166590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H₀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2094979" y="4102894"/>
            <a:ext cx="687690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 significant difference in mean profit margin (μ_top = μ_low)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29394" y="4452714"/>
            <a:ext cx="166590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Hₐ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2094979" y="4452714"/>
            <a:ext cx="687690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Mean profit margins are significantly different (μ_top ≠ μ_low)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683047" cy="107603"/>
          </a:xfrm>
          <a:prstGeom prst="roundRect">
            <a:avLst>
              <a:gd name="adj" fmla="val 22134"/>
            </a:avLst>
          </a:prstGeom>
          <a:solidFill>
            <a:srgbClr val="1E0C41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1055266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POWER BI DASHBOARD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Vendor Performance Dashboard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821606"/>
            <a:ext cx="2687687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$441.41M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96119" y="1117476"/>
            <a:ext cx="268768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Sales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3228082" y="821606"/>
            <a:ext cx="2687762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$307.34M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28082" y="1117476"/>
            <a:ext cx="268776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Purchase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960120" y="821606"/>
            <a:ext cx="2687687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$134.07M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60120" y="1117476"/>
            <a:ext cx="268768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Gross Profit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862063" y="1334467"/>
            <a:ext cx="2687762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38.72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62063" y="1630338"/>
            <a:ext cx="268776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Profit Margin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4594101" y="1334467"/>
            <a:ext cx="2687762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$2.71M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94101" y="1630338"/>
            <a:ext cx="268776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Unsold Capital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496119" y="1816298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Purchase Contribution %</a:t>
            </a:r>
            <a:endParaRPr lang="en-US" sz="6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66838"/>
            <a:ext cx="3989412" cy="287156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663232" y="1816298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Brands by Sales ($M)</a:t>
            </a:r>
            <a:endParaRPr lang="en-US" sz="65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232" y="1966838"/>
            <a:ext cx="3989412" cy="28715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31136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3" y="94655"/>
            <a:ext cx="3302794" cy="495419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925119" y="426244"/>
            <a:ext cx="1122462" cy="191839"/>
          </a:xfrm>
          <a:prstGeom prst="roundRect">
            <a:avLst>
              <a:gd name="adj" fmla="val 22114"/>
            </a:avLst>
          </a:prstGeom>
          <a:solidFill>
            <a:srgbClr val="1E0C41"/>
          </a:solidFill>
          <a:ln/>
        </p:spPr>
      </p:sp>
      <p:sp>
        <p:nvSpPr>
          <p:cNvPr id="5" name="Text 2"/>
          <p:cNvSpPr/>
          <p:nvPr/>
        </p:nvSpPr>
        <p:spPr>
          <a:xfrm>
            <a:off x="4000872" y="464121"/>
            <a:ext cx="142815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RECOMMENDATIONS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3925119" y="663029"/>
            <a:ext cx="4722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Recommendations</a:t>
            </a:r>
            <a:endParaRPr lang="en-US" sz="2450" dirty="0"/>
          </a:p>
        </p:txBody>
      </p:sp>
      <p:sp>
        <p:nvSpPr>
          <p:cNvPr id="7" name="Shape 4"/>
          <p:cNvSpPr/>
          <p:nvPr/>
        </p:nvSpPr>
        <p:spPr>
          <a:xfrm>
            <a:off x="3925118" y="1164884"/>
            <a:ext cx="4722763" cy="1207540"/>
          </a:xfrm>
          <a:prstGeom prst="roundRect">
            <a:avLst>
              <a:gd name="adj" fmla="val 2680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63283" y="1251317"/>
            <a:ext cx="378768" cy="378768"/>
          </a:xfrm>
          <a:prstGeom prst="ellipse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67463" y="1353313"/>
            <a:ext cx="170408" cy="1704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56087" y="1663422"/>
            <a:ext cx="2043187" cy="25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 Freight Surcharges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056087" y="1918055"/>
            <a:ext cx="4460824" cy="40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Investigate $257K FreightCost outliers; transition to consistent contractual freight agreements to stabilize distribution lanes.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922020" y="2464854"/>
            <a:ext cx="4722765" cy="1206431"/>
          </a:xfrm>
          <a:prstGeom prst="roundRect">
            <a:avLst>
              <a:gd name="adj" fmla="val 2680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Shape 9"/>
          <p:cNvSpPr/>
          <p:nvPr/>
        </p:nvSpPr>
        <p:spPr>
          <a:xfrm>
            <a:off x="4049893" y="2529167"/>
            <a:ext cx="378768" cy="378768"/>
          </a:xfrm>
          <a:prstGeom prst="ellipse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54073" y="2618422"/>
            <a:ext cx="170408" cy="1704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056087" y="2968884"/>
            <a:ext cx="2417564" cy="267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High-Margin Volume Bundling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049893" y="3187337"/>
            <a:ext cx="4467020" cy="437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Design promotional campaigns for high-margin, low-volume brands to free capital while locking in healthy earnings.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3925117" y="3763715"/>
            <a:ext cx="4722763" cy="1147919"/>
          </a:xfrm>
          <a:prstGeom prst="roundRect">
            <a:avLst>
              <a:gd name="adj" fmla="val 3789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063283" y="3810047"/>
            <a:ext cx="378768" cy="378768"/>
          </a:xfrm>
          <a:prstGeom prst="ellipse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67463" y="3902954"/>
            <a:ext cx="170408" cy="1704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056087" y="4235146"/>
            <a:ext cx="4460825" cy="228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Systematic SKU Clearances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063283" y="4464007"/>
            <a:ext cx="4460825" cy="398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Implement markdown schedules or RTV protocols for suppliers with StockTurnover of 0 to stop capital lock-up in dead stock.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593</Words>
  <Application>Microsoft Office PowerPoint</Application>
  <PresentationFormat>On-screen Show (16:9)</PresentationFormat>
  <Paragraphs>88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Montserrat</vt:lpstr>
      <vt:lpstr>Arial</vt:lpstr>
      <vt:lpstr>Heebo Light</vt:lpstr>
      <vt:lpstr>Heebo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Ashish Panchal</cp:lastModifiedBy>
  <cp:revision>2</cp:revision>
  <dcterms:created xsi:type="dcterms:W3CDTF">2026-07-09T07:19:42Z</dcterms:created>
  <dcterms:modified xsi:type="dcterms:W3CDTF">2026-07-09T07:35:37Z</dcterms:modified>
</cp:coreProperties>
</file>